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" charset="1" panose="00000500000000000000"/>
      <p:regular r:id="rId12"/>
    </p:embeddedFont>
    <p:embeddedFont>
      <p:font typeface="Montserrat Bold" charset="1" panose="00000800000000000000"/>
      <p:regular r:id="rId13"/>
    </p:embeddedFont>
    <p:embeddedFont>
      <p:font typeface="Lato Bold" charset="1" panose="020F0502020204030203"/>
      <p:regular r:id="rId14"/>
    </p:embeddedFont>
    <p:embeddedFont>
      <p:font typeface="Lato" charset="1" panose="020F0502020204030203"/>
      <p:regular r:id="rId15"/>
    </p:embeddedFont>
    <p:embeddedFont>
      <p:font typeface="DM Sans" charset="1" panose="00000000000000000000"/>
      <p:regular r:id="rId16"/>
    </p:embeddedFont>
    <p:embeddedFont>
      <p:font typeface="Poppins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0823" y="348142"/>
            <a:ext cx="9714354" cy="9590716"/>
          </a:xfrm>
          <a:custGeom>
            <a:avLst/>
            <a:gdLst/>
            <a:ahLst/>
            <a:cxnLst/>
            <a:rect r="r" b="b" t="t" l="l"/>
            <a:pathLst>
              <a:path h="9590716" w="9714354">
                <a:moveTo>
                  <a:pt x="0" y="0"/>
                </a:moveTo>
                <a:lnTo>
                  <a:pt x="9714354" y="0"/>
                </a:lnTo>
                <a:lnTo>
                  <a:pt x="9714354" y="9590716"/>
                </a:lnTo>
                <a:lnTo>
                  <a:pt x="0" y="9590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68263" y="4042364"/>
            <a:ext cx="12443469" cy="15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28"/>
              </a:lnSpc>
            </a:pPr>
            <a:r>
              <a:rPr lang="en-US" sz="11924" spc="71">
                <a:solidFill>
                  <a:srgbClr val="F9F8F3"/>
                </a:solidFill>
                <a:latin typeface="Montserrat"/>
                <a:ea typeface="Montserrat"/>
                <a:cs typeface="Montserrat"/>
                <a:sym typeface="Montserrat"/>
              </a:rPr>
              <a:t>XPremium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8263" y="6595619"/>
            <a:ext cx="9142810" cy="64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2"/>
              </a:lnSpc>
            </a:pPr>
            <a:r>
              <a:rPr lang="en-US" b="true" sz="4550" spc="131">
                <a:solidFill>
                  <a:srgbClr val="D4FC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CONSULTORIA ESTRATÉGICA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12708" y="2995365"/>
            <a:ext cx="6540804" cy="4514911"/>
          </a:xfrm>
          <a:custGeom>
            <a:avLst/>
            <a:gdLst/>
            <a:ahLst/>
            <a:cxnLst/>
            <a:rect r="r" b="b" t="t" l="l"/>
            <a:pathLst>
              <a:path h="4514911" w="6540804">
                <a:moveTo>
                  <a:pt x="0" y="0"/>
                </a:moveTo>
                <a:lnTo>
                  <a:pt x="6540804" y="0"/>
                </a:lnTo>
                <a:lnTo>
                  <a:pt x="6540804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9866" y="6428009"/>
            <a:ext cx="8717426" cy="3858991"/>
          </a:xfrm>
          <a:custGeom>
            <a:avLst/>
            <a:gdLst/>
            <a:ahLst/>
            <a:cxnLst/>
            <a:rect r="r" b="b" t="t" l="l"/>
            <a:pathLst>
              <a:path h="3858991" w="8717426">
                <a:moveTo>
                  <a:pt x="0" y="0"/>
                </a:moveTo>
                <a:lnTo>
                  <a:pt x="8717426" y="0"/>
                </a:lnTo>
                <a:lnTo>
                  <a:pt x="8717426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97244" y="3640352"/>
            <a:ext cx="4790756" cy="6646648"/>
          </a:xfrm>
          <a:custGeom>
            <a:avLst/>
            <a:gdLst/>
            <a:ahLst/>
            <a:cxnLst/>
            <a:rect r="r" b="b" t="t" l="l"/>
            <a:pathLst>
              <a:path h="6646648" w="4790756">
                <a:moveTo>
                  <a:pt x="0" y="0"/>
                </a:moveTo>
                <a:lnTo>
                  <a:pt x="4790756" y="0"/>
                </a:lnTo>
                <a:lnTo>
                  <a:pt x="4790756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6366" y="1079725"/>
            <a:ext cx="8051711" cy="226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8"/>
              </a:lnSpc>
            </a:pPr>
            <a:r>
              <a:rPr lang="en-US" sz="8659" b="true">
                <a:solidFill>
                  <a:srgbClr val="F8F8F8"/>
                </a:solidFill>
                <a:latin typeface="Lato Bold"/>
                <a:ea typeface="Lato Bold"/>
                <a:cs typeface="Lato Bold"/>
                <a:sym typeface="Lato Bold"/>
              </a:rPr>
              <a:t>O Problema &amp; </a:t>
            </a:r>
            <a:r>
              <a:rPr lang="en-US" sz="8659" b="true">
                <a:solidFill>
                  <a:srgbClr val="F6BD45"/>
                </a:solidFill>
                <a:latin typeface="Lato Bold"/>
                <a:ea typeface="Lato Bold"/>
                <a:cs typeface="Lato Bold"/>
                <a:sym typeface="Lato Bold"/>
              </a:rPr>
              <a:t>O Impacto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950" y="4908396"/>
            <a:ext cx="6093265" cy="88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38" b="true">
                <a:solidFill>
                  <a:srgbClr val="F8F8F8"/>
                </a:solidFill>
                <a:latin typeface="Lato Bold"/>
                <a:ea typeface="Lato Bold"/>
                <a:cs typeface="Lato Bold"/>
                <a:sym typeface="Lato Bold"/>
              </a:rPr>
              <a:t>Tempo demais </a:t>
            </a:r>
            <a:r>
              <a:rPr lang="en-US" sz="2838" b="true">
                <a:solidFill>
                  <a:srgbClr val="F6BD45"/>
                </a:solidFill>
                <a:latin typeface="Lato Bold"/>
                <a:ea typeface="Lato Bold"/>
                <a:cs typeface="Lato Bold"/>
                <a:sym typeface="Lato Bold"/>
              </a:rPr>
              <a:t>entre planilhas e telas</a:t>
            </a:r>
          </a:p>
          <a:p>
            <a:pPr algn="l">
              <a:lnSpc>
                <a:spcPts val="3604"/>
              </a:lnSpc>
            </a:pPr>
            <a:r>
              <a:rPr lang="en-US" sz="2838">
                <a:solidFill>
                  <a:srgbClr val="F8F8F8"/>
                </a:solidFill>
                <a:latin typeface="Lato"/>
                <a:ea typeface="Lato"/>
                <a:cs typeface="Lato"/>
                <a:sym typeface="Lato"/>
              </a:rPr>
              <a:t>para preparar cada reunião.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000" y="6218690"/>
            <a:ext cx="6667220" cy="88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38" b="true">
                <a:solidFill>
                  <a:srgbClr val="F8F8F8"/>
                </a:solidFill>
                <a:latin typeface="Lato Bold"/>
                <a:ea typeface="Lato Bold"/>
                <a:cs typeface="Lato Bold"/>
                <a:sym typeface="Lato Bold"/>
              </a:rPr>
              <a:t>Agenda reativa e </a:t>
            </a:r>
            <a:r>
              <a:rPr lang="en-US" sz="2838" b="true">
                <a:solidFill>
                  <a:srgbClr val="F6BD45"/>
                </a:solidFill>
                <a:latin typeface="Lato Bold"/>
                <a:ea typeface="Lato Bold"/>
                <a:cs typeface="Lato Bold"/>
                <a:sym typeface="Lato Bold"/>
              </a:rPr>
              <a:t>difícil conectar</a:t>
            </a:r>
          </a:p>
          <a:p>
            <a:pPr algn="l">
              <a:lnSpc>
                <a:spcPts val="3604"/>
              </a:lnSpc>
            </a:pPr>
            <a:r>
              <a:rPr lang="en-US" sz="2838">
                <a:solidFill>
                  <a:srgbClr val="F8F8F8"/>
                </a:solidFill>
                <a:latin typeface="Lato"/>
                <a:ea typeface="Lato"/>
                <a:cs typeface="Lato"/>
                <a:sym typeface="Lato"/>
              </a:rPr>
              <a:t>o cenário macro às carteiras dos clientes.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9638" y="7528983"/>
            <a:ext cx="5403372" cy="133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38" b="true">
                <a:solidFill>
                  <a:srgbClr val="F8F8F8"/>
                </a:solidFill>
                <a:latin typeface="Lato Bold"/>
                <a:ea typeface="Lato Bold"/>
                <a:cs typeface="Lato Bold"/>
                <a:sym typeface="Lato Bold"/>
              </a:rPr>
              <a:t>Com base estável, </a:t>
            </a:r>
            <a:r>
              <a:rPr lang="en-US" sz="2838">
                <a:solidFill>
                  <a:srgbClr val="F8F8F8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2838" b="true">
                <a:solidFill>
                  <a:srgbClr val="F6BD45"/>
                </a:solidFill>
                <a:latin typeface="Lato Bold"/>
                <a:ea typeface="Lato Bold"/>
                <a:cs typeface="Lato Bold"/>
                <a:sym typeface="Lato Bold"/>
              </a:rPr>
              <a:t>crescimento</a:t>
            </a:r>
          </a:p>
          <a:p>
            <a:pPr algn="l">
              <a:lnSpc>
                <a:spcPts val="3604"/>
              </a:lnSpc>
            </a:pPr>
            <a:r>
              <a:rPr lang="en-US" sz="2838">
                <a:solidFill>
                  <a:srgbClr val="F8F8F8"/>
                </a:solidFill>
                <a:latin typeface="Lato"/>
                <a:ea typeface="Lato"/>
                <a:cs typeface="Lato"/>
                <a:sym typeface="Lato"/>
              </a:rPr>
              <a:t>depende de </a:t>
            </a:r>
            <a:r>
              <a:rPr lang="en-US" sz="2838" b="true">
                <a:solidFill>
                  <a:srgbClr val="F6BD45"/>
                </a:solidFill>
                <a:latin typeface="Lato Bold"/>
                <a:ea typeface="Lato Bold"/>
                <a:cs typeface="Lato Bold"/>
                <a:sym typeface="Lato Bold"/>
              </a:rPr>
              <a:t>produtividade</a:t>
            </a:r>
            <a:r>
              <a:rPr lang="en-US" sz="2838">
                <a:solidFill>
                  <a:srgbClr val="F8F8F8"/>
                </a:solidFill>
                <a:latin typeface="Lato"/>
                <a:ea typeface="Lato"/>
                <a:cs typeface="Lato"/>
                <a:sym typeface="Lato"/>
              </a:rPr>
              <a:t> e</a:t>
            </a:r>
          </a:p>
          <a:p>
            <a:pPr algn="l">
              <a:lnSpc>
                <a:spcPts val="3604"/>
              </a:lnSpc>
            </a:pPr>
            <a:r>
              <a:rPr lang="en-US" sz="2838" b="true">
                <a:solidFill>
                  <a:srgbClr val="F6BD45"/>
                </a:solidFill>
                <a:latin typeface="Lato Bold"/>
                <a:ea typeface="Lato Bold"/>
                <a:cs typeface="Lato Bold"/>
                <a:sym typeface="Lato Bold"/>
              </a:rPr>
              <a:t>captação de patrimônio externo.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8622" y="1279043"/>
            <a:ext cx="11112804" cy="8373902"/>
          </a:xfrm>
          <a:custGeom>
            <a:avLst/>
            <a:gdLst/>
            <a:ahLst/>
            <a:cxnLst/>
            <a:rect r="r" b="b" t="t" l="l"/>
            <a:pathLst>
              <a:path h="8373902" w="11112804">
                <a:moveTo>
                  <a:pt x="0" y="0"/>
                </a:moveTo>
                <a:lnTo>
                  <a:pt x="11112804" y="0"/>
                </a:lnTo>
                <a:lnTo>
                  <a:pt x="11112804" y="8373902"/>
                </a:lnTo>
                <a:lnTo>
                  <a:pt x="0" y="8373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7575" y="625763"/>
            <a:ext cx="3573007" cy="91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3"/>
              </a:lnSpc>
            </a:pPr>
            <a:r>
              <a:rPr lang="en-US" sz="6068" spc="5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 Solução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1340" y="1584121"/>
            <a:ext cx="3196510" cy="82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2"/>
              </a:lnSpc>
            </a:pPr>
            <a:r>
              <a:rPr lang="en-US" sz="5484" spc="53" b="true">
                <a:solidFill>
                  <a:srgbClr val="F0C050"/>
                </a:solidFill>
                <a:latin typeface="Lato Bold"/>
                <a:ea typeface="Lato Bold"/>
                <a:cs typeface="Lato Bold"/>
                <a:sym typeface="Lato Bold"/>
              </a:rPr>
              <a:t>Hub XP &amp;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8109" y="2337163"/>
            <a:ext cx="8519607" cy="82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2"/>
              </a:lnSpc>
            </a:pPr>
            <a:r>
              <a:rPr lang="en-US" sz="5484" spc="53" b="true">
                <a:solidFill>
                  <a:srgbClr val="F0C050"/>
                </a:solidFill>
                <a:latin typeface="Lato Bold"/>
                <a:ea typeface="Lato Bold"/>
                <a:cs typeface="Lato Bold"/>
                <a:sym typeface="Lato Bold"/>
              </a:rPr>
              <a:t>O Diferencial Competitivo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3421712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3082" y="3573564"/>
            <a:ext cx="5563634" cy="122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25" b="true">
                <a:solidFill>
                  <a:srgbClr val="FFFFFF">
                    <a:alpha val="84706"/>
                  </a:srgbClr>
                </a:solidFill>
                <a:latin typeface="Lato Bold"/>
                <a:ea typeface="Lato Bold"/>
                <a:cs typeface="Lato Bold"/>
                <a:sym typeface="Lato Bold"/>
              </a:rPr>
              <a:t>Dashboard unificado</a:t>
            </a:r>
            <a:r>
              <a:rPr lang="en-US" sz="2575" spc="25">
                <a:solidFill>
                  <a:srgbClr val="FFFFFF">
                    <a:alpha val="84706"/>
                  </a:srgbClr>
                </a:solidFill>
                <a:latin typeface="Lato"/>
                <a:ea typeface="Lato"/>
                <a:cs typeface="Lato"/>
                <a:sym typeface="Lato"/>
              </a:rPr>
              <a:t> que conecta custódia XP, Open Finance e insights do Agent de Notícias.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5138034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25619" y="5245317"/>
            <a:ext cx="5309969" cy="122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25" b="true">
                <a:solidFill>
                  <a:srgbClr val="FFFFFF">
                    <a:alpha val="84706"/>
                  </a:srgbClr>
                </a:solidFill>
                <a:latin typeface="Lato Bold"/>
                <a:ea typeface="Lato Bold"/>
                <a:cs typeface="Lato Bold"/>
                <a:sym typeface="Lato Bold"/>
              </a:rPr>
              <a:t>Plataforma centralizada e modular,</a:t>
            </a:r>
            <a:r>
              <a:rPr lang="en-US" sz="2575" spc="25">
                <a:solidFill>
                  <a:srgbClr val="FFFFFF">
                    <a:alpha val="84706"/>
                  </a:srgbClr>
                </a:solidFill>
                <a:latin typeface="Lato"/>
                <a:ea typeface="Lato"/>
                <a:cs typeface="Lato"/>
                <a:sym typeface="Lato"/>
              </a:rPr>
              <a:t> construída com Next.js, TypeScript</a:t>
            </a:r>
          </a:p>
          <a:p>
            <a:pPr algn="l">
              <a:lnSpc>
                <a:spcPts val="3347"/>
              </a:lnSpc>
            </a:pPr>
            <a:r>
              <a:rPr lang="en-US" sz="2575" spc="25">
                <a:solidFill>
                  <a:srgbClr val="FFFFFF">
                    <a:alpha val="84706"/>
                  </a:srgbClr>
                </a:solidFill>
                <a:latin typeface="Lato"/>
                <a:ea typeface="Lato"/>
                <a:cs typeface="Lato"/>
                <a:sym typeface="Lato"/>
              </a:rPr>
              <a:t>e Supabase PostgreSQL.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6854356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20479" y="6932131"/>
            <a:ext cx="5824018" cy="81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25" b="true">
                <a:solidFill>
                  <a:srgbClr val="FFFFFF">
                    <a:alpha val="84706"/>
                  </a:srgbClr>
                </a:solidFill>
                <a:latin typeface="Lato Bold"/>
                <a:ea typeface="Lato Bold"/>
                <a:cs typeface="Lato Bold"/>
                <a:sym typeface="Lato Bold"/>
              </a:rPr>
              <a:t>Conexão direta entre cliente e assessor</a:t>
            </a:r>
            <a:r>
              <a:rPr lang="en-US" sz="2575" spc="25">
                <a:solidFill>
                  <a:srgbClr val="FFFFFF">
                    <a:alpha val="84706"/>
                  </a:srgbClr>
                </a:solidFill>
                <a:latin typeface="Lato"/>
                <a:ea typeface="Lato"/>
                <a:cs typeface="Lato"/>
                <a:sym typeface="Lato"/>
              </a:rPr>
              <a:t> em um ecossistema único.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8133399"/>
            <a:ext cx="229694" cy="1519546"/>
          </a:xfrm>
          <a:custGeom>
            <a:avLst/>
            <a:gdLst/>
            <a:ahLst/>
            <a:cxnLst/>
            <a:rect r="r" b="b" t="t" l="l"/>
            <a:pathLst>
              <a:path h="1519546" w="229694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22192" y="8272546"/>
            <a:ext cx="5652694" cy="122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25" b="true">
                <a:solidFill>
                  <a:srgbClr val="F0C050">
                    <a:alpha val="84706"/>
                  </a:srgbClr>
                </a:solidFill>
                <a:latin typeface="Lato Bold"/>
                <a:ea typeface="Lato Bold"/>
                <a:cs typeface="Lato Bold"/>
                <a:sym typeface="Lato Bold"/>
              </a:rPr>
              <a:t>Expremium opera,</a:t>
            </a:r>
            <a:r>
              <a:rPr lang="en-US" sz="2575" spc="25">
                <a:solidFill>
                  <a:srgbClr val="FFFFFF">
                    <a:alpha val="84706"/>
                  </a:srgbClr>
                </a:solidFill>
                <a:latin typeface="Lato"/>
                <a:ea typeface="Lato"/>
                <a:cs typeface="Lato"/>
                <a:sym typeface="Lato"/>
              </a:rPr>
              <a:t> reunindo custódia, Open Finance, priorização e mercado para facilitar a conversa do assessor.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6650" y="752452"/>
            <a:ext cx="9665439" cy="177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1"/>
              </a:lnSpc>
            </a:pPr>
            <a:r>
              <a:rPr lang="en-US" sz="6385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Governança, Segurança</a:t>
            </a:r>
          </a:p>
          <a:p>
            <a:pPr algn="l">
              <a:lnSpc>
                <a:spcPts val="7021"/>
              </a:lnSpc>
            </a:pPr>
            <a:r>
              <a:rPr lang="en-US" sz="6385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 Próximos Passos </a:t>
            </a:r>
            <a:r>
              <a:rPr lang="en-US" sz="6385" b="true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(MVP)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995365"/>
            <a:ext cx="3500096" cy="6657580"/>
          </a:xfrm>
          <a:custGeom>
            <a:avLst/>
            <a:gdLst/>
            <a:ahLst/>
            <a:cxnLst/>
            <a:rect r="r" b="b" t="t" l="l"/>
            <a:pathLst>
              <a:path h="6657580" w="3500096">
                <a:moveTo>
                  <a:pt x="0" y="0"/>
                </a:moveTo>
                <a:lnTo>
                  <a:pt x="3500096" y="0"/>
                </a:lnTo>
                <a:lnTo>
                  <a:pt x="3500096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4512" y="3492066"/>
            <a:ext cx="2026170" cy="34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b="true" sz="2311" spc="-46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GOVERNANÇA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9912" y="4301374"/>
            <a:ext cx="2486122" cy="7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Consentimento único</a:t>
            </a:r>
          </a:p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e transparente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8330" y="5355633"/>
            <a:ext cx="2644315" cy="105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Foco em consolidação de informações</a:t>
            </a:r>
          </a:p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e assessoria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7994" y="6801885"/>
            <a:ext cx="2677946" cy="105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Minimização e armazenamento estrito na plataforma XP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5733" y="8262375"/>
            <a:ext cx="1904041" cy="7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Sem exportação</a:t>
            </a:r>
          </a:p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indevida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085450" y="2995365"/>
            <a:ext cx="3489158" cy="6657580"/>
          </a:xfrm>
          <a:custGeom>
            <a:avLst/>
            <a:gdLst/>
            <a:ahLst/>
            <a:cxnLst/>
            <a:rect r="r" b="b" t="t" l="l"/>
            <a:pathLst>
              <a:path h="6657580" w="3489158">
                <a:moveTo>
                  <a:pt x="0" y="0"/>
                </a:moveTo>
                <a:lnTo>
                  <a:pt x="3489158" y="0"/>
                </a:lnTo>
                <a:lnTo>
                  <a:pt x="3489158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36262" y="3510836"/>
            <a:ext cx="1787823" cy="32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2355" spc="-47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SEGURANÇA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94377" y="4653536"/>
            <a:ext cx="2671305" cy="70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1"/>
              </a:lnSpc>
            </a:pPr>
            <a:r>
              <a:rPr lang="en-US" sz="4939" spc="-98" b="true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401 / 403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94377" y="6180551"/>
            <a:ext cx="2678906" cy="31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2BC49"/>
                </a:solidFill>
                <a:latin typeface="Lato"/>
                <a:ea typeface="Lato"/>
                <a:cs typeface="Lato"/>
                <a:sym typeface="Lato"/>
              </a:rPr>
              <a:t>Bloqueios aplicados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612708" y="2995365"/>
            <a:ext cx="3500096" cy="6657580"/>
          </a:xfrm>
          <a:custGeom>
            <a:avLst/>
            <a:gdLst/>
            <a:ahLst/>
            <a:cxnLst/>
            <a:rect r="r" b="b" t="t" l="l"/>
            <a:pathLst>
              <a:path h="6657580" w="3500096">
                <a:moveTo>
                  <a:pt x="0" y="0"/>
                </a:moveTo>
                <a:lnTo>
                  <a:pt x="3500096" y="0"/>
                </a:lnTo>
                <a:lnTo>
                  <a:pt x="3500096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052941" y="3510836"/>
            <a:ext cx="1056648" cy="32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b="true" sz="2355" spc="-47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PILOTO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40651" y="4226070"/>
            <a:ext cx="2285639" cy="105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Direcionado para assessores XP</a:t>
            </a:r>
          </a:p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do varejo alta renda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40530" y="5792397"/>
            <a:ext cx="2297787" cy="7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Medição de adoção</a:t>
            </a:r>
          </a:p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e captação líquida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56352" y="7586621"/>
            <a:ext cx="715631" cy="70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1"/>
              </a:lnSpc>
            </a:pPr>
            <a:r>
              <a:rPr lang="en-US" sz="4939" spc="-98" b="true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90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63508" y="8425310"/>
            <a:ext cx="1044773" cy="31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dias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144000" y="7499343"/>
            <a:ext cx="218756" cy="1289974"/>
          </a:xfrm>
          <a:custGeom>
            <a:avLst/>
            <a:gdLst/>
            <a:ahLst/>
            <a:cxnLst/>
            <a:rect r="r" b="b" t="t" l="l"/>
            <a:pathLst>
              <a:path h="1289974" w="218756">
                <a:moveTo>
                  <a:pt x="0" y="0"/>
                </a:moveTo>
                <a:lnTo>
                  <a:pt x="218756" y="0"/>
                </a:lnTo>
                <a:lnTo>
                  <a:pt x="218756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26172" y="7586621"/>
            <a:ext cx="1073446" cy="70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1"/>
              </a:lnSpc>
            </a:pPr>
            <a:r>
              <a:rPr lang="en-US" sz="4939" spc="-98" b="true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180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21148" y="2572702"/>
            <a:ext cx="2677425" cy="34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b="true" sz="2311" spc="-46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PRÓXIMOS PASSOS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747196" y="342171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65952" y="3640352"/>
            <a:ext cx="229694" cy="4296271"/>
          </a:xfrm>
          <a:custGeom>
            <a:avLst/>
            <a:gdLst/>
            <a:ahLst/>
            <a:cxnLst/>
            <a:rect r="r" b="b" t="t" l="l"/>
            <a:pathLst>
              <a:path h="4296271" w="229694">
                <a:moveTo>
                  <a:pt x="0" y="0"/>
                </a:moveTo>
                <a:lnTo>
                  <a:pt x="229694" y="0"/>
                </a:lnTo>
                <a:lnTo>
                  <a:pt x="22969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47196" y="535667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747196" y="7499343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426810" y="3819428"/>
            <a:ext cx="3010440" cy="105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Coletar feedback e validar hipóteses com os primeiros assessores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32505" y="5867702"/>
            <a:ext cx="2440911" cy="105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Acompanhar adoção</a:t>
            </a:r>
          </a:p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e resultados de captação no piloto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30132" y="7946276"/>
            <a:ext cx="2678204" cy="105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-40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Evoluir funcionalidades e expandir o Hub XP para toda a rede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56914" y="7536721"/>
            <a:ext cx="2678906" cy="31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b="true" sz="2254" spc="-45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EXPANDIR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56914" y="3425111"/>
            <a:ext cx="2678906" cy="31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b="true" sz="2254" spc="-45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VALIDAR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56914" y="5473385"/>
            <a:ext cx="2678906" cy="31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b="true" sz="2254" spc="-45">
                <a:solidFill>
                  <a:srgbClr val="F2BC49"/>
                </a:solidFill>
                <a:latin typeface="Lato Bold"/>
                <a:ea typeface="Lato Bold"/>
                <a:cs typeface="Lato Bold"/>
                <a:sym typeface="Lato Bold"/>
              </a:rPr>
              <a:t>MEDIR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36906" y="8425310"/>
            <a:ext cx="1044773" cy="31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74902"/>
                  </a:srgbClr>
                </a:solidFill>
                <a:latin typeface="Lato"/>
                <a:ea typeface="Lato"/>
                <a:cs typeface="Lato"/>
                <a:sym typeface="Lato"/>
              </a:rPr>
              <a:t>dias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8723" y="5502169"/>
            <a:ext cx="9871939" cy="115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sz="2694" spc="-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Trabalhamos com uma abordagem estratégica e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sz="2694" spc="-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personalizada, unindo análise, criatividade e clareza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  <a:r>
              <a:rPr lang="en-US" sz="2694" spc="-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 cada etapa do processo.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28723" y="2590040"/>
            <a:ext cx="9871939" cy="247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43"/>
              </a:lnSpc>
              <a:spcBef>
                <a:spcPct val="0"/>
              </a:spcBef>
            </a:pPr>
            <a:r>
              <a:rPr lang="en-US" b="true" sz="9624" spc="-240" u="sng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Nossos d</a:t>
            </a:r>
            <a:r>
              <a:rPr lang="en-US" b="true" sz="9624" spc="-240" strike="noStrike" u="sng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9624" spc="-240" strike="noStrike" u="sng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fer</a:t>
            </a:r>
            <a:r>
              <a:rPr lang="en-US" b="true" sz="9624" spc="-240" strike="noStrike" u="sng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en</a:t>
            </a:r>
            <a:r>
              <a:rPr lang="en-US" b="true" sz="9624" spc="-240" strike="noStrike" u="sng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ciais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8723" y="7094971"/>
            <a:ext cx="9871939" cy="74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  <a:spcBef>
                <a:spcPct val="0"/>
              </a:spcBef>
            </a:pPr>
            <a:r>
              <a:rPr lang="en-US" sz="2634" spc="-12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Nosso foco é desenvolver soluções visuais que fortalecem o posicionamento e geram resultados reais para o negócio.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024586" y="2962904"/>
            <a:ext cx="8076718" cy="4361191"/>
            <a:chOff x="0" y="0"/>
            <a:chExt cx="1213236" cy="6551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3237" cy="655112"/>
            </a:xfrm>
            <a:custGeom>
              <a:avLst/>
              <a:gdLst/>
              <a:ahLst/>
              <a:cxnLst/>
              <a:rect r="r" b="b" t="t" l="l"/>
              <a:pathLst>
                <a:path h="655112" w="1213237">
                  <a:moveTo>
                    <a:pt x="19171" y="0"/>
                  </a:moveTo>
                  <a:lnTo>
                    <a:pt x="1194066" y="0"/>
                  </a:lnTo>
                  <a:cubicBezTo>
                    <a:pt x="1204653" y="0"/>
                    <a:pt x="1213237" y="8583"/>
                    <a:pt x="1213237" y="19171"/>
                  </a:cubicBezTo>
                  <a:lnTo>
                    <a:pt x="1213237" y="635941"/>
                  </a:lnTo>
                  <a:cubicBezTo>
                    <a:pt x="1213237" y="641026"/>
                    <a:pt x="1211217" y="645902"/>
                    <a:pt x="1207621" y="649497"/>
                  </a:cubicBezTo>
                  <a:cubicBezTo>
                    <a:pt x="1204026" y="653092"/>
                    <a:pt x="1199150" y="655112"/>
                    <a:pt x="1194066" y="655112"/>
                  </a:cubicBezTo>
                  <a:lnTo>
                    <a:pt x="19171" y="655112"/>
                  </a:lnTo>
                  <a:cubicBezTo>
                    <a:pt x="14087" y="655112"/>
                    <a:pt x="9210" y="653092"/>
                    <a:pt x="5615" y="649497"/>
                  </a:cubicBezTo>
                  <a:cubicBezTo>
                    <a:pt x="2020" y="645902"/>
                    <a:pt x="0" y="641026"/>
                    <a:pt x="0" y="635941"/>
                  </a:cubicBezTo>
                  <a:lnTo>
                    <a:pt x="0" y="19171"/>
                  </a:lnTo>
                  <a:cubicBezTo>
                    <a:pt x="0" y="14087"/>
                    <a:pt x="2020" y="9210"/>
                    <a:pt x="5615" y="5615"/>
                  </a:cubicBezTo>
                  <a:cubicBezTo>
                    <a:pt x="9210" y="2020"/>
                    <a:pt x="14087" y="0"/>
                    <a:pt x="19171" y="0"/>
                  </a:cubicBezTo>
                  <a:close/>
                </a:path>
              </a:pathLst>
            </a:custGeom>
            <a:solidFill>
              <a:srgbClr val="29292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13236" cy="683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2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490066" y="3648118"/>
            <a:ext cx="4358272" cy="71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547" indent="-274774" lvl="1">
              <a:lnSpc>
                <a:spcPts val="2850"/>
              </a:lnSpc>
              <a:buFont typeface="Arial"/>
              <a:buChar char="•"/>
            </a:pPr>
            <a:r>
              <a:rPr lang="en-US" sz="2545" spc="-117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Comunicação visual                </a:t>
            </a:r>
            <a:r>
              <a:rPr lang="en-US" sz="2545" spc="-117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 propósito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90066" y="4619557"/>
            <a:ext cx="4358272" cy="106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547" indent="-274774" lvl="1">
              <a:lnSpc>
                <a:spcPts val="2850"/>
              </a:lnSpc>
              <a:buFont typeface="Arial"/>
              <a:buChar char="•"/>
            </a:pPr>
            <a:r>
              <a:rPr lang="en-US" sz="2545" spc="-11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Exper</a:t>
            </a:r>
            <a:r>
              <a:rPr lang="en-US" sz="2545" spc="-117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545" spc="-117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ên</a:t>
            </a:r>
            <a:r>
              <a:rPr lang="en-US" sz="2545" spc="-117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cia</a:t>
            </a:r>
            <a:r>
              <a:rPr lang="en-US" sz="2545" spc="-117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 a</a:t>
            </a:r>
            <a:r>
              <a:rPr lang="en-US" sz="2545" spc="-117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companhamento próximos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90066" y="5945819"/>
            <a:ext cx="4358272" cy="71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547" indent="-274774" lvl="1">
              <a:lnSpc>
                <a:spcPts val="2850"/>
              </a:lnSpc>
              <a:buFont typeface="Arial"/>
              <a:buChar char="•"/>
            </a:pPr>
            <a:r>
              <a:rPr lang="en-US" sz="2545" spc="-11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Foco na cons</a:t>
            </a:r>
            <a:r>
              <a:rPr lang="en-US" sz="2545" spc="-117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istência e a</a:t>
            </a:r>
            <a:r>
              <a:rPr lang="en-US" sz="2545" spc="-117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ut</a:t>
            </a:r>
            <a:r>
              <a:rPr lang="en-US" sz="2545" spc="-117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enticidade da marca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401019">
            <a:off x="-2618839" y="8600087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6" y="0"/>
                </a:lnTo>
                <a:lnTo>
                  <a:pt x="6394676" y="6313289"/>
                </a:lnTo>
                <a:lnTo>
                  <a:pt x="0" y="6313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01019">
            <a:off x="15813699" y="-2669317"/>
            <a:ext cx="6394676" cy="6313289"/>
          </a:xfrm>
          <a:custGeom>
            <a:avLst/>
            <a:gdLst/>
            <a:ahLst/>
            <a:cxnLst/>
            <a:rect r="r" b="b" t="t" l="l"/>
            <a:pathLst>
              <a:path h="6313289" w="6394676">
                <a:moveTo>
                  <a:pt x="0" y="0"/>
                </a:moveTo>
                <a:lnTo>
                  <a:pt x="6394677" y="0"/>
                </a:lnTo>
                <a:lnTo>
                  <a:pt x="6394677" y="6313290"/>
                </a:lnTo>
                <a:lnTo>
                  <a:pt x="0" y="6313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71211" y="5653560"/>
            <a:ext cx="6329290" cy="2604994"/>
            <a:chOff x="0" y="0"/>
            <a:chExt cx="886353" cy="364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353" cy="364803"/>
            </a:xfrm>
            <a:custGeom>
              <a:avLst/>
              <a:gdLst/>
              <a:ahLst/>
              <a:cxnLst/>
              <a:rect r="r" b="b" t="t" l="l"/>
              <a:pathLst>
                <a:path h="364803" w="886353">
                  <a:moveTo>
                    <a:pt x="24464" y="0"/>
                  </a:moveTo>
                  <a:lnTo>
                    <a:pt x="861889" y="0"/>
                  </a:lnTo>
                  <a:cubicBezTo>
                    <a:pt x="875400" y="0"/>
                    <a:pt x="886353" y="10953"/>
                    <a:pt x="886353" y="24464"/>
                  </a:cubicBezTo>
                  <a:lnTo>
                    <a:pt x="886353" y="340339"/>
                  </a:lnTo>
                  <a:cubicBezTo>
                    <a:pt x="886353" y="353850"/>
                    <a:pt x="875400" y="364803"/>
                    <a:pt x="861889" y="364803"/>
                  </a:cubicBezTo>
                  <a:lnTo>
                    <a:pt x="24464" y="364803"/>
                  </a:lnTo>
                  <a:cubicBezTo>
                    <a:pt x="10953" y="364803"/>
                    <a:pt x="0" y="353850"/>
                    <a:pt x="0" y="340339"/>
                  </a:cubicBezTo>
                  <a:lnTo>
                    <a:pt x="0" y="24464"/>
                  </a:lnTo>
                  <a:cubicBezTo>
                    <a:pt x="0" y="10953"/>
                    <a:pt x="10953" y="0"/>
                    <a:pt x="24464" y="0"/>
                  </a:cubicBezTo>
                  <a:close/>
                </a:path>
              </a:pathLst>
            </a:custGeom>
            <a:solidFill>
              <a:srgbClr val="29292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86353" cy="393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2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8350" y="6028123"/>
            <a:ext cx="6403993" cy="188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6533" indent="-288266" lvl="1">
              <a:lnSpc>
                <a:spcPts val="2990"/>
              </a:lnSpc>
              <a:buFont typeface="Arial"/>
              <a:buChar char="•"/>
            </a:pPr>
            <a:r>
              <a:rPr lang="en-US" sz="2670" spc="-122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Clareza no posicionamento</a:t>
            </a:r>
          </a:p>
          <a:p>
            <a:pPr algn="l" marL="576533" indent="-288266" lvl="1">
              <a:lnSpc>
                <a:spcPts val="2990"/>
              </a:lnSpc>
              <a:buFont typeface="Arial"/>
              <a:buChar char="•"/>
            </a:pPr>
            <a:r>
              <a:rPr lang="en-US" sz="2670" spc="-122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Identidade visual coerente</a:t>
            </a:r>
          </a:p>
          <a:p>
            <a:pPr algn="l" marL="576533" indent="-288266" lvl="1">
              <a:lnSpc>
                <a:spcPts val="2990"/>
              </a:lnSpc>
              <a:buFont typeface="Arial"/>
              <a:buChar char="•"/>
            </a:pPr>
            <a:r>
              <a:rPr lang="en-US" sz="2670" spc="-122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Comunicação mais estratégica</a:t>
            </a:r>
          </a:p>
          <a:p>
            <a:pPr algn="l" marL="576533" indent="-288266" lvl="1">
              <a:lnSpc>
                <a:spcPts val="2990"/>
              </a:lnSpc>
              <a:buFont typeface="Arial"/>
              <a:buChar char="•"/>
            </a:pPr>
            <a:r>
              <a:rPr lang="en-US" sz="2670" spc="-122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Maior reconhecimento e conexão</a:t>
            </a:r>
          </a:p>
          <a:p>
            <a:pPr algn="l" marL="576533" indent="-288266" lvl="1">
              <a:lnSpc>
                <a:spcPts val="2990"/>
              </a:lnSpc>
              <a:buFont typeface="Arial"/>
              <a:buChar char="•"/>
            </a:pPr>
            <a:r>
              <a:rPr lang="en-US" sz="2670" spc="-122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 o público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58350" y="2180846"/>
            <a:ext cx="10589156" cy="141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07"/>
              </a:lnSpc>
              <a:spcBef>
                <a:spcPct val="0"/>
              </a:spcBef>
            </a:pPr>
            <a:r>
              <a:rPr lang="en-US" b="true" sz="10324" spc="-258" u="sng">
                <a:solidFill>
                  <a:srgbClr val="D4FC72"/>
                </a:solidFill>
                <a:latin typeface="Poppins Bold"/>
                <a:ea typeface="Poppins Bold"/>
                <a:cs typeface="Poppins Bold"/>
                <a:sym typeface="Poppins Bold"/>
              </a:rPr>
              <a:t>Benefícios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58350" y="4016346"/>
            <a:ext cx="8476368" cy="1238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  <a:spcBef>
                <a:spcPct val="0"/>
              </a:spcBef>
            </a:pPr>
            <a:r>
              <a:rPr lang="en-US" sz="2889" spc="-1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 o</a:t>
            </a:r>
            <a:r>
              <a:rPr lang="en-US" sz="2889" spc="-1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bjetivo é construir uma marca sólida,</a:t>
            </a:r>
          </a:p>
          <a:p>
            <a:pPr algn="l">
              <a:lnSpc>
                <a:spcPts val="3236"/>
              </a:lnSpc>
              <a:spcBef>
                <a:spcPct val="0"/>
              </a:spcBef>
            </a:pPr>
            <a:r>
              <a:rPr lang="en-US" sz="2889" spc="-1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 presença digital consistente e</a:t>
            </a:r>
          </a:p>
          <a:p>
            <a:pPr algn="l">
              <a:lnSpc>
                <a:spcPts val="3236"/>
              </a:lnSpc>
              <a:spcBef>
                <a:spcPct val="0"/>
              </a:spcBef>
            </a:pPr>
            <a:r>
              <a:rPr lang="en-US" sz="2889" spc="-1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alinhada ao propósito do negócio.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430823" y="348142"/>
            <a:ext cx="9714354" cy="9590716"/>
          </a:xfrm>
          <a:custGeom>
            <a:avLst/>
            <a:gdLst/>
            <a:ahLst/>
            <a:cxnLst/>
            <a:rect r="r" b="b" t="t" l="l"/>
            <a:pathLst>
              <a:path h="9590716" w="9714354">
                <a:moveTo>
                  <a:pt x="0" y="0"/>
                </a:moveTo>
                <a:lnTo>
                  <a:pt x="9714354" y="0"/>
                </a:lnTo>
                <a:lnTo>
                  <a:pt x="9714354" y="9590716"/>
                </a:lnTo>
                <a:lnTo>
                  <a:pt x="0" y="9590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DAHXpBqzHjA</dc:identifier>
  <dcterms:modified xsi:type="dcterms:W3CDTF">2011-08-01T06:04:30Z</dcterms:modified>
  <cp:revision>1</cp:revision>
  <dc:title>Proposta comercial consultoria profissional simples preto verde apresentação </dc:title>
</cp:coreProperties>
</file>